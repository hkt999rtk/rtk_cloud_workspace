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624fbd65984252" /><Relationship Type="http://schemas.openxmlformats.org/officeDocument/2006/relationships/extended-properties" Target="/docProps/app.xml" Id="R0b6dd7344b5c4c08" /><Relationship Type="http://schemas.openxmlformats.org/officeDocument/2006/relationships/officeDocument" Target="/ppt/presentation.xml" Id="R3e68b4cace6249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5565653f944e7c"/>
    <p:sldMasterId xmlns:r="http://schemas.openxmlformats.org/officeDocument/2006/relationships" id="2147483651" r:id="Rb317658977c645cb"/>
    <p:sldMasterId xmlns:r="http://schemas.openxmlformats.org/officeDocument/2006/relationships" id="2147483656" r:id="R60e927cb182341b5"/>
    <p:sldMasterId xmlns:r="http://schemas.openxmlformats.org/officeDocument/2006/relationships" id="2147483660" r:id="Rdf92b42023f5418f"/>
  </p:sldMasterIdLst>
  <p:notesMasterIdLst>
    <p:notesMasterId xmlns:r="http://schemas.openxmlformats.org/officeDocument/2006/relationships" r:id="R42ab579ba59c492f"/>
  </p:notesMasterIdLst>
  <p:sldIdLst>
    <p:sldId xmlns:r="http://schemas.openxmlformats.org/officeDocument/2006/relationships" id="256" r:id="R8cec5afd05bc49cc"/>
    <p:sldId xmlns:r="http://schemas.openxmlformats.org/officeDocument/2006/relationships" id="257" r:id="R533318712bd5441b"/>
    <p:sldId xmlns:r="http://schemas.openxmlformats.org/officeDocument/2006/relationships" id="258" r:id="R4168ad5d197d462c"/>
    <p:sldId xmlns:r="http://schemas.openxmlformats.org/officeDocument/2006/relationships" id="259" r:id="Rb6135f572816410c"/>
    <p:sldId xmlns:r="http://schemas.openxmlformats.org/officeDocument/2006/relationships" id="260" r:id="Rda3c3339d3ed48b1"/>
    <p:sldId xmlns:r="http://schemas.openxmlformats.org/officeDocument/2006/relationships" id="261" r:id="R707c361e07a644e9"/>
    <p:sldId xmlns:r="http://schemas.openxmlformats.org/officeDocument/2006/relationships" id="262" r:id="R708ccde937a14012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083E6E3-FA7D-4D7B-A595-EF9225AFEA82}" styleName="淺色樣式 1 - 輔色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56fcd01ca4dca" /><Relationship Type="http://schemas.openxmlformats.org/officeDocument/2006/relationships/slideMaster" Target="/ppt/slideMasters/slideMaster1.xml" Id="R115565653f944e7c" /><Relationship Type="http://schemas.openxmlformats.org/officeDocument/2006/relationships/slideMaster" Target="/ppt/slideMasters/slideMaster2.xml" Id="Rb317658977c645cb" /><Relationship Type="http://schemas.openxmlformats.org/officeDocument/2006/relationships/slideMaster" Target="/ppt/slideMasters/slideMaster3.xml" Id="R60e927cb182341b5" /><Relationship Type="http://schemas.openxmlformats.org/officeDocument/2006/relationships/slideMaster" Target="/ppt/slideMasters/slideMaster4.xml" Id="Rdf92b42023f5418f" /><Relationship Type="http://schemas.openxmlformats.org/officeDocument/2006/relationships/notesMaster" Target="/ppt/notesMasters/notesMaster1.xml" Id="R42ab579ba59c492f" /><Relationship Type="http://schemas.openxmlformats.org/officeDocument/2006/relationships/presProps" Target="/ppt/presProps.xml" Id="R5449647219f74a30" /><Relationship Type="http://schemas.openxmlformats.org/officeDocument/2006/relationships/viewProps" Target="/ppt/viewProps.xml" Id="Raca0e6b939be4155" /><Relationship Type="http://schemas.openxmlformats.org/officeDocument/2006/relationships/tableStyles" Target="/ppt/tableStyles.xml" Id="R287b582ee4604dfb" /><Relationship Type="http://schemas.openxmlformats.org/officeDocument/2006/relationships/slide" Target="/ppt/slides/slide1.xml" Id="R8cec5afd05bc49cc" /><Relationship Type="http://schemas.openxmlformats.org/officeDocument/2006/relationships/slide" Target="/ppt/slides/slide2.xml" Id="R533318712bd5441b" /><Relationship Type="http://schemas.openxmlformats.org/officeDocument/2006/relationships/slide" Target="/ppt/slides/slide3.xml" Id="R4168ad5d197d462c" /><Relationship Type="http://schemas.openxmlformats.org/officeDocument/2006/relationships/slide" Target="/ppt/slides/slide4.xml" Id="Rb6135f572816410c" /><Relationship Type="http://schemas.openxmlformats.org/officeDocument/2006/relationships/slide" Target="/ppt/slides/slide5.xml" Id="Rda3c3339d3ed48b1" /><Relationship Type="http://schemas.openxmlformats.org/officeDocument/2006/relationships/slide" Target="/ppt/slides/slide6.xml" Id="R707c361e07a644e9" /><Relationship Type="http://schemas.openxmlformats.org/officeDocument/2006/relationships/slide" Target="/ppt/slides/slide7.xml" Id="R708ccde937a140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a21788ed26b545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首頁和末頁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訂 1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藍綠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c2e605b21240dc" /><Relationship Type="http://schemas.openxmlformats.org/officeDocument/2006/relationships/notesMaster" Target="/ppt/notesMasters/notesMaster1.xml" Id="Re3a26e976e404e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47494f31954730" /><Relationship Type="http://schemas.openxmlformats.org/officeDocument/2006/relationships/notesMaster" Target="/ppt/notesMasters/notesMaster1.xml" Id="Ra8dab4e53ad741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9aaf85757b49f3" /><Relationship Type="http://schemas.openxmlformats.org/officeDocument/2006/relationships/notesMaster" Target="/ppt/notesMasters/notesMaster1.xml" Id="Rd4b3abf504f246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35010b722248c4" /><Relationship Type="http://schemas.openxmlformats.org/officeDocument/2006/relationships/notesMaster" Target="/ppt/notesMasters/notesMaster1.xml" Id="Rcabc34483c4a4d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468f73fb35495d" /><Relationship Type="http://schemas.openxmlformats.org/officeDocument/2006/relationships/notesMaster" Target="/ppt/notesMasters/notesMaster1.xml" Id="R2644db33faf34f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63f503159245ef" /><Relationship Type="http://schemas.openxmlformats.org/officeDocument/2006/relationships/notesMaster" Target="/ppt/notesMasters/notesMaster1.xml" Id="R01be2ce9c53d42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2b01b35e3a4348" /><Relationship Type="http://schemas.openxmlformats.org/officeDocument/2006/relationships/notesMaster" Target="/ppt/notesMasters/notesMaster1.xml" Id="R38c8ae32fd5e4a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User-approved customer introduction brief, 2026-08-26.</a:t>
            </a:r>
            <a:endParaRPr/>
          </a:p>
          <a:p xmlns:a="http://schemas.openxmlformats.org/drawingml/2006/main">
            <a:r>
              <a:t>- /Users/kevinhuang/work/rtk_cloud_workspace1/docs/business-model.md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/Users/kevinhuang/work/rtk_cloud_workspace1/docs/business-model.md</a:t>
            </a:r>
          </a:p>
          <a:p xmlns:a="http://schemas.openxmlformats.org/drawingml/2006/main">
            <a:r>
              <a:t>- /Users/kevinhuang/work/rtk_cloud_workspace1/docs/private-cloud-deployment.md</a:t>
            </a:r>
          </a:p>
          <a:p xmlns:a="http://schemas.openxmlformats.org/drawingml/2006/main">
            <a:r>
              <a:t>- /Users/kevinhuang/work/rtk_cloud_workspace1/repos/rtk_cloud_frontend/docs/SPEC.md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/Users/kevinhuang/work/rtk_cloud_workspace1/docs/business-model.md</a:t>
            </a:r>
          </a:p>
          <a:p xmlns:a="http://schemas.openxmlformats.org/drawingml/2006/main">
            <a:r>
              <a:t>- /Users/kevinhuang/work/rtk_cloud_workspace1/docs/private-cloud-deployment.md</a:t>
            </a:r>
          </a:p>
          <a:p xmlns:a="http://schemas.openxmlformats.org/drawingml/2006/main">
            <a:r>
              <a:t>- User-approved hosted and self-managed commercial model, 2026-08-26.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/Users/kevinhuang/work/rtk_cloud_workspace1/repos/rtk_cloud_frontend/docs/SPEC.md</a:t>
            </a:r>
          </a:p>
          <a:p xmlns:a="http://schemas.openxmlformats.org/drawingml/2006/main">
            <a:r>
              <a:t>- /Users/kevinhuang/work/rtk_cloud_workspace1/repos/rtk_cloud_client/docs/SAMPLE_APPLICATIONS.md</a:t>
            </a:r>
          </a:p>
          <a:p xmlns:a="http://schemas.openxmlformats.org/drawingml/2006/main">
            <a:r>
              <a:t>- /Users/kevinhuang/work/rtk_cloud_workspace1/repos/rtk_cloud_frontend/docs/design/video-cloud/content-map.md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/Users/kevinhuang/work/rtk_cloud_workspace1/repos/rtk_cloud_admin/docs/assets/webui-design/platform-brand-clouds-list.png</a:t>
            </a:r>
          </a:p>
          <a:p xmlns:a="http://schemas.openxmlformats.org/drawingml/2006/main">
            <a:r>
              <a:t>- /Users/kevinhuang/work/rtk_cloud_workspace1/repos/rtk_cloud_admin/docs/assets/webui-design/platform-brand-clouds-detail.png</a:t>
            </a:r>
          </a:p>
          <a:p xmlns:a="http://schemas.openxmlformats.org/drawingml/2006/main">
            <a:r>
              <a:t>- /Users/kevinhuang/work/rtk_cloud_workspace1/repos/rtk_cloud_admin/docs/design-assets/k8s-platform-dashboard-mockup.png</a:t>
            </a:r>
          </a:p>
          <a:p xmlns:a="http://schemas.openxmlformats.org/drawingml/2006/main">
            <a:r>
              <a:t>- Existing design materials; shown as representative dashboard 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https://admin.video-cloud-staging.realtekconnect.com/signup (captured 2026-08-26)</a:t>
            </a:r>
          </a:p>
          <a:p xmlns:a="http://schemas.openxmlformats.org/drawingml/2006/main">
            <a:r>
              <a:t>- https://admin.video-cloud-staging.realtekconnect.com/signup/check-email?email=customer%40example.com (captured 2026-08-26)</a:t>
            </a:r>
          </a:p>
          <a:p xmlns:a="http://schemas.openxmlformats.org/drawingml/2006/main">
            <a:r>
              <a:t>- https://admin.video-cloud-staging.realtekconnect.com/verify (captured 2026-08-26)</a:t>
            </a:r>
          </a:p>
          <a:p xmlns:a="http://schemas.openxmlformats.org/drawingml/2006/main">
            <a:r>
              <a:t>- Screenshots use fictional example addresses and contain no password, token or real personal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User-approved internal test milestone: 2026-09-01.</a:t>
            </a:r>
          </a:p>
          <a:p xmlns:a="http://schemas.openxmlformats.org/drawingml/2006/main">
            <a:r>
              <a:t>- Internal test release only; this slide does not state public GA, pricing, SLA or contractual availability.</a:t>
            </a:r>
          </a:p>
          <a:p xmlns:a="http://schemas.openxmlformats.org/drawingml/2006/main">
            <a:r>
              <a:t>- /Users/kevinhuang/work/rtk_cloud_workspace1/docs/business-model.md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d2be823f64407" /><Relationship Type="http://schemas.openxmlformats.org/officeDocument/2006/relationships/image" Target="/ppt/media/image3.png" Id="R57ea3ce5186c4d6b" /><Relationship Type="http://schemas.openxmlformats.org/officeDocument/2006/relationships/image" Target="/ppt/media/image4.png" Id="R4a0a9792580840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dce5a5c0f4fdc" /><Relationship Type="http://schemas.openxmlformats.org/officeDocument/2006/relationships/image" Target="/ppt/media/image3.png" Id="R6874172d0d3f4ca9" /><Relationship Type="http://schemas.openxmlformats.org/officeDocument/2006/relationships/image" Target="/ppt/media/image5.png" Id="R4928d57d9a704d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ba20fcc1ba46d9" /><Relationship Type="http://schemas.openxmlformats.org/officeDocument/2006/relationships/image" Target="/ppt/media/image6.png" Id="Rfc8b6a6523364b91" /><Relationship Type="http://schemas.openxmlformats.org/officeDocument/2006/relationships/image" Target="/ppt/media/image2.jpeg" Id="R7d9dd379dca34924" /><Relationship Type="http://schemas.openxmlformats.org/officeDocument/2006/relationships/image" Target="/ppt/media/image7.png" Id="R0c0e9d0c105343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bb3d874eb04353" /><Relationship Type="http://schemas.openxmlformats.org/officeDocument/2006/relationships/image" Target="/ppt/media/image3.jpeg" Id="R806462c060c04977" /><Relationship Type="http://schemas.openxmlformats.org/officeDocument/2006/relationships/image" Target="/ppt/media/image7.png" Id="R2838458f90ad4f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8878ce2c594adf" /><Relationship Type="http://schemas.openxmlformats.org/officeDocument/2006/relationships/image" Target="/ppt/media/image4.jpeg" Id="Rbb1249df361d415e" /><Relationship Type="http://schemas.openxmlformats.org/officeDocument/2006/relationships/image" Target="/ppt/media/image7.png" Id="R00ace35371d742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db5a32fc8d4232" /><Relationship Type="http://schemas.openxmlformats.org/officeDocument/2006/relationships/image" Target="/ppt/media/image8.png" Id="R034f69fd3c2f4af5" /><Relationship Type="http://schemas.openxmlformats.org/officeDocument/2006/relationships/image" Target="/ppt/media/image7.png" Id="Rdd96e201206941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c068636f39742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c79ba13c1384f2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d02ab466457498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eb5df7e36e5449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1749d3547d3478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926b4d6ec0b84d6c" /></Relationships>
</file>

<file path=ppt/slideLayouts/slideLayout1.xml><?xml version="1.0" encoding="utf-8"?>
<p:sldLayout xmlns:p="http://schemas.openxmlformats.org/presentationml/2006/main" type="obj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圖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a3ce5186c4d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28" name="圖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a979258084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43942" y="870490"/>
            <a:ext cx="2578074" cy="527642"/>
          </a:xfrm>
          <a:prstGeom xmlns:a="http://schemas.openxmlformats.org/drawingml/2006/main" prst="rect">
            <a:avLst/>
          </a:prstGeom>
        </p:spPr>
      </p:pic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CA8FD48-BA64-49EC-8C60-C82F640EC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71547" y="1692517"/>
            <a:ext cx="4993480" cy="8792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2ABCB8F-60D1-46D7-A636-9ADD2CDD16B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2109138" y="2896676"/>
            <a:ext cx="4918297" cy="401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B251A0B5-3B08-7821-5174-DB941F33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554" y="4529459"/>
            <a:ext cx="2706732" cy="22897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75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© 2026 Realtek Semiconductor Corp. All rights reserved</a:t>
            </a:r>
            <a:endParaRPr sz="675" b="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709F3F4-AA58-45BA-B798-A64D59C4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0141"/>
            <a:ext cx="9144000" cy="24335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25000"/>
              <a:alpha val="7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末頁QRCO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4172d0d3f4c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11" name="圖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8d57d9a70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43942" y="966158"/>
            <a:ext cx="1854555" cy="379563"/>
          </a:xfrm>
          <a:prstGeom xmlns:a="http://schemas.openxmlformats.org/drawingml/2006/main" prst="rect">
            <a:avLst/>
          </a:prstGeom>
        </p:spPr>
      </p:pic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84329B3E-987E-9F8A-2BA0-397F20C7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703794" y="1984726"/>
            <a:ext cx="317736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  <a:endParaRPr sz="3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A967FDFF-56F2-8AB8-0489-E32AE195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27" y="4665796"/>
            <a:ext cx="2706732" cy="22897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75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© 2026 Realtek Semiconductor Corp. All rights reserved</a:t>
            </a:r>
            <a:endParaRPr sz="675" b="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E3ED1396-C384-5EAF-1ECE-525D4A9E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825" y="4385071"/>
            <a:ext cx="228377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chemeClr val="tx1">
                    <a:lumMod val="85000"/>
                    <a:lumOff val="15000"/>
                  </a:schemeClr>
                </a:solidFill>
              </a:rPr>
              <a:t>www.realtek.com</a:t>
            </a:r>
            <a:endParaRPr sz="1800" b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D54B675-FE8C-0BDE-AE0E-15C79CB0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00141"/>
            <a:ext cx="9144000" cy="24335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25000"/>
              <a:alpha val="7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agenda &amp; chapt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圖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b6a6523364b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7532" cy="1365131"/>
          </a:xfrm>
          <a:prstGeom xmlns:a="http://schemas.openxmlformats.org/drawingml/2006/main" prst="rect">
            <a:avLst/>
          </a:prstGeom>
        </p:spPr>
      </p:pic>
      <p:pic>
        <p:nvPicPr>
          <p:cNvPr id="19" name="圖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dd379dca34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21243" y="0"/>
            <a:ext cx="2222757" cy="5143500"/>
          </a:xfrm>
          <a:prstGeom xmlns:a="http://schemas.openxmlformats.org/drawingml/2006/main" prst="rect">
            <a:avLst/>
          </a:prstGeom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4551B93-80AE-6D3F-0D64-9330EE40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40" y="743127"/>
            <a:ext cx="6520728" cy="35829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51000"/>
            </a:schemeClr>
          </a:solidFill>
          <a:ln xmlns:a="http://schemas.openxmlformats.org/drawingml/2006/main">
            <a:solidFill>
              <a:schemeClr val="tx1">
                <a:lumMod val="50000"/>
                <a:lumOff val="50000"/>
                <a:alpha val="17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9389A59B-C6B8-A3F0-18B1-A3051F70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66" y="4601178"/>
            <a:ext cx="2706732" cy="22897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75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© 2026 Realtek Semiconductor Corp. All rights reserved</a:t>
            </a:r>
            <a:endParaRPr sz="675" b="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16C6A26B-4E0D-3C64-3603-6CC6EB55E6C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223682" y="1211688"/>
            <a:ext cx="5060576" cy="422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Agenda</a:t>
            </a:r>
            <a:endParaRPr/>
          </a:p>
        </p:txBody>
      </p:sp>
      <p:pic>
        <p:nvPicPr>
          <p:cNvPr id="23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e9d0c105343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2068" y="4545935"/>
            <a:ext cx="1571483" cy="321628"/>
          </a:xfrm>
          <a:prstGeom xmlns:a="http://schemas.openxmlformats.org/drawingml/2006/main" prst="rect">
            <a:avLst/>
          </a:prstGeom>
        </p:spPr>
      </p:pic>
      <p:sp>
        <p:nvSpPr>
          <p:cNvPr id="14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CAB8D20-AF75-E3A6-52AE-D4AB42D656C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223682" y="2101930"/>
            <a:ext cx="5060577" cy="1905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75" marR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  <a:defRPr sz="18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r>
              <a:t>Title</a:t>
            </a:r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r>
              <a:t>Title</a:t>
            </a:r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endParaRPr/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endParaRPr/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</p:txBody>
      </p:sp>
      <p:sp>
        <p:nvSpPr>
          <p:cNvPr id="5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3059E279-406E-11C1-CE64-49EB2427E8B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19569" y="4812745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fld id="{7E3D494B-6B2C-41F5-A9C7-CA574244055D}" type="slidenum">
              <a:t>‹#›</a:t>
            </a:fld>
            <a:endParaRPr sz="1000"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agenda &amp; chapter 0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圖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462c060c049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11" name="標題 1">
            <a:extLst xmlns:a="http://schemas.openxmlformats.org/drawingml/2006/main">
              <a:ext uri="{FF2B5EF4-FFF2-40B4-BE49-F238E27FC236}">
                <a16:creationId xmlns:a16="http://schemas.microsoft.com/office/drawing/2014/main" id="{196EE704-0682-88FF-B869-57E34C3B1DF4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041712" y="1740608"/>
            <a:ext cx="4995582" cy="422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Agenda &amp; Chapter</a:t>
            </a:r>
            <a:endParaRPr/>
          </a:p>
        </p:txBody>
      </p:sp>
      <p:sp>
        <p:nvSpPr>
          <p:cNvPr id="13" name="直線接點 12">
            <a:extLst xmlns:a="http://schemas.openxmlformats.org/drawingml/2006/main">
              <a:ext uri="{FF2B5EF4-FFF2-40B4-BE49-F238E27FC236}">
                <a16:creationId xmlns:a16="http://schemas.microsoft.com/office/drawing/2014/main" id="{AA0148BE-B66E-4689-B1D0-A00DEEF5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543" y="2333211"/>
            <a:ext cx="4422913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50000"/>
                <a:lumOff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30" name="圖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8458f90ad4f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6944" y="443039"/>
            <a:ext cx="1729379" cy="353944"/>
          </a:xfrm>
          <a:prstGeom xmlns:a="http://schemas.openxmlformats.org/drawingml/2006/main" prst="rect">
            <a:avLst/>
          </a:prstGeom>
        </p:spPr>
      </p:pic>
      <p:sp>
        <p:nvSpPr>
          <p:cNvPr id="24" name="內容版面配置區 23">
            <a:extLst xmlns:a="http://schemas.openxmlformats.org/drawingml/2006/main">
              <a:ext uri="{FF2B5EF4-FFF2-40B4-BE49-F238E27FC236}">
                <a16:creationId xmlns:a16="http://schemas.microsoft.com/office/drawing/2014/main" id="{60584E07-4708-959C-DC89-6236424DECD8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2008186" y="2537591"/>
            <a:ext cx="5127625" cy="1711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75" marR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  <a:defRPr sz="2400"/>
            </a:lvl1pPr>
            <a:lvl3pPr>
              <a:buFont typeface="Wingdings"/>
              <a:buChar char="n"/>
              <a:defRPr>
                <a:latin typeface="+mj-lt"/>
                <a:ea typeface="+mj-lt"/>
                <a:cs typeface="+mj-lt"/>
              </a:defRPr>
            </a:lvl3pPr>
            <a:lvl4pPr>
              <a:buNone/>
              <a:defRPr>
                <a:latin typeface="+mj-lt"/>
                <a:ea typeface="+mj-lt"/>
                <a:cs typeface="+mj-lt"/>
              </a:defRPr>
            </a:lvl4pPr>
            <a:lvl5pPr>
              <a:buNone/>
              <a:defRPr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2">
              <a:buNone/>
            </a:pPr>
            <a:r>
              <a:t>Title</a:t>
            </a:r>
            <a:endParaRPr/>
          </a:p>
          <a:p xmlns:a="http://schemas.openxmlformats.org/drawingml/2006/main">
            <a:pPr lvl="3">
              <a:buNone/>
            </a:pPr>
            <a:endParaRPr/>
          </a:p>
        </p:txBody>
      </p:sp>
      <p:sp>
        <p:nvSpPr>
          <p:cNvPr id="2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10298898-E5F9-4C4A-B6E2-F41439DC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792" y="4756317"/>
            <a:ext cx="2706732" cy="22897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75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© 2026 Realtek Semiconductor Corp. All rights reserved</a:t>
            </a:r>
            <a:endParaRPr sz="675" b="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A130F985-AB6F-58BB-04D3-8300C2BD1AD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19569" y="4812745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fld id="{7E3D494B-6B2C-41F5-A9C7-CA574244055D}" type="slidenum">
              <a:t>‹#›</a:t>
            </a:fld>
            <a:endParaRPr sz="1000"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圖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249df361d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602515" cy="5143500"/>
          </a:xfrm>
          <a:prstGeom xmlns:a="http://schemas.openxmlformats.org/drawingml/2006/main" prst="rect">
            <a:avLst/>
          </a:prstGeom>
        </p:spPr>
      </p:pic>
      <p:pic>
        <p:nvPicPr>
          <p:cNvPr id="17" name="圖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ce35371d74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3019" y="231391"/>
            <a:ext cx="1729379" cy="353944"/>
          </a:xfrm>
          <a:prstGeom xmlns:a="http://schemas.openxmlformats.org/drawingml/2006/main" prst="rect">
            <a:avLst/>
          </a:prstGeom>
        </p:spPr>
      </p:pic>
      <p:sp>
        <p:nvSpPr>
          <p:cNvPr id="11" name="標題 1">
            <a:extLst xmlns:a="http://schemas.openxmlformats.org/drawingml/2006/main">
              <a:ext uri="{FF2B5EF4-FFF2-40B4-BE49-F238E27FC236}">
                <a16:creationId xmlns:a16="http://schemas.microsoft.com/office/drawing/2014/main" id="{D95D8F95-3BCD-DE7F-5D94-922EB3B1E30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022912" y="1516490"/>
            <a:ext cx="3704664" cy="422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Agenda &amp; Chapter</a:t>
            </a:r>
            <a:endParaRPr/>
          </a:p>
        </p:txBody>
      </p:sp>
      <p:sp>
        <p:nvSpPr>
          <p:cNvPr id="1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CCD05FAB-33A5-60F2-924D-8927ED07A1C4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3984813" y="2251562"/>
            <a:ext cx="3841376" cy="1905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75" marR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  <a:defRPr sz="18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r>
              <a:t>Title</a:t>
            </a:r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r>
              <a:t>Title</a:t>
            </a:r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endParaRPr/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endParaRPr/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</p:txBody>
      </p:sp>
      <p:sp>
        <p:nvSpPr>
          <p:cNvPr id="2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9944838E-7773-6020-23A7-E379A80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742" y="4835577"/>
            <a:ext cx="2706732" cy="22897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75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© 2026 Realtek Semiconductor Corp. All rights reserved</a:t>
            </a:r>
            <a:endParaRPr sz="675" b="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EA45EB15-3ABC-AFA1-EFF6-E2F196257E2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19569" y="4812745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fld id="{7E3D494B-6B2C-41F5-A9C7-CA574244055D}" type="slidenum">
              <a:t>‹#›</a:t>
            </a:fld>
            <a:endParaRPr sz="1000"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圖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f69fd3c2f4a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5077" y="-54288"/>
            <a:ext cx="3528923" cy="5197788"/>
          </a:xfrm>
          <a:prstGeom xmlns:a="http://schemas.openxmlformats.org/drawingml/2006/main" prst="rect">
            <a:avLst/>
          </a:prstGeom>
        </p:spPr>
      </p:pic>
      <p:pic>
        <p:nvPicPr>
          <p:cNvPr id="16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6e201206941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5998" y="412469"/>
            <a:ext cx="1729379" cy="353944"/>
          </a:xfrm>
          <a:prstGeom xmlns:a="http://schemas.openxmlformats.org/drawingml/2006/main" prst="rect">
            <a:avLst/>
          </a:prstGeom>
        </p:spPr>
      </p:pic>
      <p:sp>
        <p:nvSpPr>
          <p:cNvPr id="11" name="標題 1">
            <a:extLst xmlns:a="http://schemas.openxmlformats.org/drawingml/2006/main">
              <a:ext uri="{FF2B5EF4-FFF2-40B4-BE49-F238E27FC236}">
                <a16:creationId xmlns:a16="http://schemas.microsoft.com/office/drawing/2014/main" id="{1D828D5E-68D7-9569-4244-18294623867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984097" y="1588208"/>
            <a:ext cx="3704664" cy="422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Agenda &amp; Chapter</a:t>
            </a:r>
            <a:endParaRPr/>
          </a:p>
        </p:txBody>
      </p:sp>
      <p:sp>
        <p:nvSpPr>
          <p:cNvPr id="12" name="副標題 2">
            <a:extLst xmlns:a="http://schemas.openxmlformats.org/drawingml/2006/main">
              <a:ext uri="{FF2B5EF4-FFF2-40B4-BE49-F238E27FC236}">
                <a16:creationId xmlns:a16="http://schemas.microsoft.com/office/drawing/2014/main" id="{EEB84885-3879-272C-79CC-3A39B0C3FB7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945998" y="2323280"/>
            <a:ext cx="3841376" cy="1905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75" marR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  <a:defRPr sz="18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r>
              <a:t>Title</a:t>
            </a:r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r>
              <a:t>Title</a:t>
            </a:r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endParaRPr/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endParaRPr/>
          </a:p>
          <a:p xmlns:a="http://schemas.openxmlformats.org/drawingml/2006/main">
            <a:pPr marL="257175" marR="0" lvl="0" indent="-257175" algn="l" defTabSz="6858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</a:pPr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</p:txBody>
      </p:sp>
      <p:sp>
        <p:nvSpPr>
          <p:cNvPr id="2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51A1ED8F-3FD6-9D83-801E-7AB2E091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79" y="4731031"/>
            <a:ext cx="2706732" cy="22897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75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© 2026 Realtek Semiconductor Corp. All rights reserved</a:t>
            </a:r>
            <a:endParaRPr sz="675" b="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FEB5CC45-FDB7-98AE-83C7-3FCD0D296A1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19569" y="4812745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fld id="{7E3D494B-6B2C-41F5-A9C7-CA574244055D}" type="slidenum">
              <a:t>‹#›</a:t>
            </a:fld>
            <a:endParaRPr sz="1000"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版面配置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內容版面配置區 7">
            <a:extLst xmlns:a="http://schemas.openxmlformats.org/drawingml/2006/main">
              <a:ext uri="{FF2B5EF4-FFF2-40B4-BE49-F238E27FC236}">
                <a16:creationId xmlns:a16="http://schemas.microsoft.com/office/drawing/2014/main" id="{8689EEE8-1C75-42FE-BDCF-76C461E83331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12376" y="825286"/>
            <a:ext cx="8476235" cy="38532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75" indent="-257175"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  <a:defRPr sz="18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5000" indent="-171450">
              <a:lnSpc>
                <a:spcPts val="1800"/>
              </a:lnSpc>
              <a:spcBef>
                <a:spcPts val="200"/>
              </a:spcBef>
              <a:spcAft>
                <a:spcPts val="600"/>
              </a:spcAft>
              <a:buSzPct val="80000"/>
              <a:buFont typeface="Wingdings"/>
              <a:buChar char="l"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729000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53000">
              <a:spcBef>
                <a:spcPts val="600"/>
              </a:spcBef>
              <a:buNone/>
              <a:defRPr sz="11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404000">
              <a:spcBef>
                <a:spcPts val="300"/>
              </a:spcBef>
              <a:spcAft>
                <a:spcPts val="225"/>
              </a:spcAft>
              <a:buNone/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2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B68945C4-3035-0639-1D0B-0FB60B1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854" y="4935883"/>
            <a:ext cx="533048" cy="2513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1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0B5B4039-CDDE-46DD-8545-0A5633482654}" type="slidenum">
              <a:rPr sz="75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‹#›</a:t>
            </a:fld>
            <a:endParaRPr sz="750" b="1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" name="標題版面配置區 4">
            <a:extLst xmlns:a="http://schemas.openxmlformats.org/drawingml/2006/main">
              <a:ext uri="{FF2B5EF4-FFF2-40B4-BE49-F238E27FC236}">
                <a16:creationId xmlns:a16="http://schemas.microsoft.com/office/drawing/2014/main" id="{DDA3961F-E158-E7A5-B5A6-C7E520EDC38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12376" y="142888"/>
            <a:ext cx="8391419" cy="431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2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400"/>
              <a:t>微軟正黑</a:t>
            </a:r>
            <a:r>
              <a:rPr sz="2400"/>
              <a:t>-</a:t>
            </a:r>
            <a:r>
              <a:rPr sz="2400"/>
              <a:t>英文</a:t>
            </a:r>
            <a:r>
              <a:rPr sz="2400"/>
              <a:t>Arial</a:t>
            </a:r>
            <a:endParaRPr sz="240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內容版面配置區 7">
            <a:extLst xmlns:a="http://schemas.openxmlformats.org/drawingml/2006/main">
              <a:ext uri="{FF2B5EF4-FFF2-40B4-BE49-F238E27FC236}">
                <a16:creationId xmlns:a16="http://schemas.microsoft.com/office/drawing/2014/main" id="{8ED719C8-10AA-4F46-8B0D-800985B25F18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29817" y="831985"/>
            <a:ext cx="3846348" cy="3891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75" indent="-257175"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5000" indent="-171450">
              <a:lnSpc>
                <a:spcPts val="1500"/>
              </a:lnSpc>
              <a:spcAft>
                <a:spcPts val="450"/>
              </a:spcAft>
              <a:buSzPct val="80000"/>
              <a:buFont typeface="Wingdings"/>
              <a:buChar char="l"/>
              <a:defRPr sz="1400"/>
            </a:lvl2pPr>
            <a:lvl3pPr marL="729000">
              <a:buNone/>
              <a:defRPr sz="1200"/>
            </a:lvl3pPr>
            <a:lvl4pPr marL="1053000">
              <a:buNone/>
              <a:defRPr sz="1200"/>
            </a:lvl4pPr>
            <a:lvl5pPr marL="1404000">
              <a:buNone/>
              <a:defRPr sz="1050"/>
            </a:lvl5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3" name="內容版面配置區 7">
            <a:extLst xmlns:a="http://schemas.openxmlformats.org/drawingml/2006/main">
              <a:ext uri="{FF2B5EF4-FFF2-40B4-BE49-F238E27FC236}">
                <a16:creationId xmlns:a16="http://schemas.microsoft.com/office/drawing/2014/main" id="{9F32A670-585B-394C-A3FA-5148F492181E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4724400" y="831985"/>
            <a:ext cx="4105275" cy="3891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75" indent="-257175"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5000" indent="-171450">
              <a:lnSpc>
                <a:spcPts val="1500"/>
              </a:lnSpc>
              <a:spcAft>
                <a:spcPts val="450"/>
              </a:spcAft>
              <a:buSzPct val="80000"/>
              <a:buFont typeface="Wingdings"/>
              <a:buChar char="l"/>
              <a:defRPr sz="1400"/>
            </a:lvl2pPr>
            <a:lvl3pPr marL="729000">
              <a:buNone/>
              <a:defRPr sz="1200"/>
            </a:lvl3pPr>
            <a:lvl4pPr marL="1053000">
              <a:buNone/>
              <a:defRPr sz="1200"/>
            </a:lvl4pPr>
            <a:lvl5pPr marL="1404000">
              <a:buNone/>
              <a:defRPr sz="1050"/>
            </a:lvl5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3FF4C49-2AFE-D28B-60AA-89456EF0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854" y="4935883"/>
            <a:ext cx="533048" cy="2513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1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0B5B4039-CDDE-46DD-8545-0A5633482654}" type="slidenum">
              <a:rPr sz="75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‹#›</a:t>
            </a:fld>
            <a:endParaRPr sz="750" b="1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5" name="標題版面配置區 4">
            <a:extLst xmlns:a="http://schemas.openxmlformats.org/drawingml/2006/main">
              <a:ext uri="{FF2B5EF4-FFF2-40B4-BE49-F238E27FC236}">
                <a16:creationId xmlns:a16="http://schemas.microsoft.com/office/drawing/2014/main" id="{7616FF76-7455-8FA6-9B06-92608ED82D5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29817" y="188392"/>
            <a:ext cx="8399858" cy="431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2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400"/>
              <a:t>微軟正黑</a:t>
            </a:r>
            <a:r>
              <a:rPr sz="2400"/>
              <a:t>-</a:t>
            </a:r>
            <a:r>
              <a:rPr sz="2400"/>
              <a:t>英文</a:t>
            </a:r>
            <a:r>
              <a:rPr sz="2400"/>
              <a:t>Arial</a:t>
            </a:r>
            <a:endParaRPr sz="240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表格版面配置區 13">
            <a:extLst xmlns:a="http://schemas.openxmlformats.org/drawingml/2006/main">
              <a:ext uri="{FF2B5EF4-FFF2-40B4-BE49-F238E27FC236}">
                <a16:creationId xmlns:a16="http://schemas.microsoft.com/office/drawing/2014/main" id="{447B10F0-DE24-45FD-A8EA-62E58B124286}"/>
              </a:ext>
            </a:extLst>
          </p:cNvPr>
          <p:cNvSpPr>
            <a:spLocks xmlns:a="http://schemas.openxmlformats.org/drawingml/2006/main" noGrp="1"/>
          </p:cNvSpPr>
          <p:nvPr>
            <p:ph type="tbl" idx="10"/>
          </p:nvPr>
        </p:nvSpPr>
        <p:spPr>
          <a:xfrm xmlns:a="http://schemas.openxmlformats.org/drawingml/2006/main">
            <a:off x="429816" y="837010"/>
            <a:ext cx="8399859" cy="39516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60BCFD63-4E5D-D73C-21B9-50E97EE5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854" y="4935883"/>
            <a:ext cx="533048" cy="2513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1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0B5B4039-CDDE-46DD-8545-0A5633482654}" type="slidenum">
              <a:rPr sz="75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‹#›</a:t>
            </a:fld>
            <a:endParaRPr sz="750" b="1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" name="標題版面配置區 4">
            <a:extLst xmlns:a="http://schemas.openxmlformats.org/drawingml/2006/main">
              <a:ext uri="{FF2B5EF4-FFF2-40B4-BE49-F238E27FC236}">
                <a16:creationId xmlns:a16="http://schemas.microsoft.com/office/drawing/2014/main" id="{AF77370F-80E7-7281-EA21-13DD8611C4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03936" y="142888"/>
            <a:ext cx="8399859" cy="431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24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2400"/>
              <a:t>微軟正黑</a:t>
            </a:r>
            <a:r>
              <a:rPr sz="2400"/>
              <a:t>-</a:t>
            </a:r>
            <a:r>
              <a:rPr sz="2400"/>
              <a:t>英文</a:t>
            </a:r>
            <a:r>
              <a:rPr sz="2400"/>
              <a:t>Arial</a:t>
            </a:r>
            <a:endParaRPr sz="240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內頁-簡中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標題 1">
            <a:extLst xmlns:a="http://schemas.openxmlformats.org/drawingml/2006/main">
              <a:ext uri="{FF2B5EF4-FFF2-40B4-BE49-F238E27FC236}">
                <a16:creationId xmlns:a16="http://schemas.microsoft.com/office/drawing/2014/main" id="{5EA0D1EC-090B-4F16-BF53-74D6FBD5F9B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1444" y="148083"/>
            <a:ext cx="8122943" cy="431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简中</a:t>
            </a:r>
            <a:r>
              <a:t>-</a:t>
            </a:r>
            <a:r>
              <a:t>雅黑体 </a:t>
            </a:r>
            <a:r>
              <a:t>/ Arial</a:t>
            </a:r>
            <a:r>
              <a:t>  按一下以編輯母片標題樣式</a:t>
            </a:r>
          </a:p>
        </p:txBody>
      </p:sp>
      <p:sp>
        <p:nvSpPr>
          <p:cNvPr id="9" name="文字版面配置區 5">
            <a:extLst xmlns:a="http://schemas.openxmlformats.org/drawingml/2006/main">
              <a:ext uri="{FF2B5EF4-FFF2-40B4-BE49-F238E27FC236}">
                <a16:creationId xmlns:a16="http://schemas.microsoft.com/office/drawing/2014/main" id="{CDD02D0C-974B-4DA7-BC8D-EC1636964C87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511444" y="825775"/>
            <a:ext cx="8122943" cy="39108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257175" indent="-257175">
              <a:spcBef>
                <a:spcPts val="0"/>
              </a:spcBef>
              <a:spcAft>
                <a:spcPts val="600"/>
              </a:spcAft>
              <a:buFont typeface="Wingdings"/>
              <a:buChar char="n"/>
              <a:defRPr b="0">
                <a:latin typeface="+mn-ea"/>
                <a:ea typeface="+mn-ea"/>
                <a:cs typeface="+mn-ea"/>
              </a:defRPr>
            </a:lvl1pPr>
            <a:lvl2pPr>
              <a:spcBef>
                <a:spcPts val="0"/>
              </a:spcBef>
              <a:spcAft>
                <a:spcPts val="600"/>
              </a:spcAft>
              <a:buNone/>
              <a:defRPr>
                <a:latin typeface="+mn-ea"/>
                <a:ea typeface="+mn-ea"/>
                <a:cs typeface="+mn-ea"/>
              </a:defRPr>
            </a:lvl2pPr>
            <a:lvl3pPr>
              <a:spcBef>
                <a:spcPts val="0"/>
              </a:spcBef>
              <a:spcAft>
                <a:spcPts val="600"/>
              </a:spcAft>
              <a:buNone/>
              <a:defRPr sz="1400">
                <a:latin typeface="+mn-ea"/>
                <a:ea typeface="+mn-ea"/>
                <a:cs typeface="+mn-ea"/>
              </a:defRPr>
            </a:lvl3pPr>
          </a:lstStyle>
          <a:p xmlns:a="http://schemas.openxmlformats.org/drawingml/2006/main">
            <a:pPr lvl="0">
              <a:buNone/>
            </a:pPr>
            <a:r>
              <a:t>FONT/TYPE </a:t>
            </a:r>
            <a:r>
              <a:t>编辑母片文字样式</a:t>
            </a:r>
            <a:endParaRPr/>
          </a:p>
          <a:p xmlns:a="http://schemas.openxmlformats.org/drawingml/2006/main">
            <a:pPr lvl="1">
              <a:buNone/>
            </a:pPr>
            <a:r>
              <a:t>FONT/TYPE</a:t>
            </a:r>
            <a:r>
              <a:t> 第二层</a:t>
            </a:r>
            <a:endParaRPr/>
          </a:p>
          <a:p xmlns:a="http://schemas.openxmlformats.org/drawingml/2006/main">
            <a:pPr lvl="2">
              <a:buNone/>
            </a:pPr>
            <a:r>
              <a:t>第三层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題版面配置區 4">
            <a:extLst xmlns:a="http://schemas.openxmlformats.org/drawingml/2006/main">
              <a:ext uri="{FF2B5EF4-FFF2-40B4-BE49-F238E27FC236}">
                <a16:creationId xmlns:a16="http://schemas.microsoft.com/office/drawing/2014/main" id="{E3BE19E5-A554-4599-A5AF-B4C6470F558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99820" y="199576"/>
            <a:ext cx="8270919" cy="431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2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简中</a:t>
            </a:r>
            <a:r>
              <a:t>-</a:t>
            </a:r>
            <a:r>
              <a:t>雅黑体 </a:t>
            </a:r>
            <a:r>
              <a:t>/ Arial</a:t>
            </a:r>
            <a:r>
              <a:t>  按一下以編輯母片標題樣式</a:t>
            </a:r>
            <a:endParaRPr sz="2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內容版面配置區 7">
            <a:extLst xmlns:a="http://schemas.openxmlformats.org/drawingml/2006/main">
              <a:ext uri="{FF2B5EF4-FFF2-40B4-BE49-F238E27FC236}">
                <a16:creationId xmlns:a16="http://schemas.microsoft.com/office/drawing/2014/main" id="{27AB02B7-60B7-408C-B9C3-1D620B19506F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99822" y="831985"/>
            <a:ext cx="3835830" cy="3891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75" indent="-257175">
              <a:spcBef>
                <a:spcPts val="0"/>
              </a:spcBef>
              <a:spcAft>
                <a:spcPts val="600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5000" indent="-17145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80000"/>
              <a:buFont typeface="Wingdings"/>
              <a:buChar char="l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771863" indent="-214313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81550" indent="0">
              <a:buNone/>
              <a:defRPr sz="1050"/>
            </a:lvl4pPr>
            <a:lvl5pPr marL="1404000">
              <a:buNone/>
              <a:defRPr sz="1050"/>
            </a:lvl5pPr>
          </a:lstStyle>
          <a:p xmlns:a="http://schemas.openxmlformats.org/drawingml/2006/main">
            <a:pPr lvl="0">
              <a:buNone/>
            </a:pPr>
            <a:r>
              <a:t>FONT/TYPE </a:t>
            </a:r>
            <a:r>
              <a:t>编辑母片文字样式</a:t>
            </a:r>
            <a:endParaRPr/>
          </a:p>
          <a:p xmlns:a="http://schemas.openxmlformats.org/drawingml/2006/main">
            <a:pPr lvl="1">
              <a:buNone/>
            </a:pPr>
            <a:r>
              <a:t>FONT/TYPE</a:t>
            </a:r>
            <a:r>
              <a:t> 第二层</a:t>
            </a:r>
            <a:endParaRPr/>
          </a:p>
          <a:p xmlns:a="http://schemas.openxmlformats.org/drawingml/2006/main">
            <a:pPr lvl="2">
              <a:buNone/>
            </a:pPr>
            <a:r>
              <a:t>第三层</a:t>
            </a:r>
          </a:p>
        </p:txBody>
      </p:sp>
      <p:sp>
        <p:nvSpPr>
          <p:cNvPr id="2" name="內容版面配置區 7">
            <a:extLst xmlns:a="http://schemas.openxmlformats.org/drawingml/2006/main">
              <a:ext uri="{FF2B5EF4-FFF2-40B4-BE49-F238E27FC236}">
                <a16:creationId xmlns:a16="http://schemas.microsoft.com/office/drawing/2014/main" id="{48DEB560-2C90-BF97-3302-F0EB71067323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4808350" y="831984"/>
            <a:ext cx="3962389" cy="38918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75" indent="-257175">
              <a:spcBef>
                <a:spcPts val="0"/>
              </a:spcBef>
              <a:spcAft>
                <a:spcPts val="600"/>
              </a:spcAft>
              <a:buClr>
                <a:schemeClr val="tx2">
                  <a:lumMod val="75000"/>
                </a:schemeClr>
              </a:buClr>
              <a:buSzPct val="80000"/>
              <a:buFont typeface="Wingdings"/>
              <a:buChar char="n"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05000" indent="-171450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SzPct val="80000"/>
              <a:buFont typeface="Wingdings"/>
              <a:buChar char="l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771863" indent="-214313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81550" indent="0">
              <a:buNone/>
              <a:defRPr sz="1050"/>
            </a:lvl4pPr>
            <a:lvl5pPr marL="1404000">
              <a:buNone/>
              <a:defRPr sz="1050"/>
            </a:lvl5pPr>
          </a:lstStyle>
          <a:p xmlns:a="http://schemas.openxmlformats.org/drawingml/2006/main">
            <a:pPr lvl="0">
              <a:buNone/>
            </a:pPr>
            <a:r>
              <a:t>FONT/TYPE </a:t>
            </a:r>
            <a:r>
              <a:t>编辑母片文字样式</a:t>
            </a:r>
            <a:endParaRPr/>
          </a:p>
          <a:p xmlns:a="http://schemas.openxmlformats.org/drawingml/2006/main">
            <a:pPr lvl="1">
              <a:buNone/>
            </a:pPr>
            <a:r>
              <a:t>FONT/TYPE</a:t>
            </a:r>
            <a:r>
              <a:t> 第二层</a:t>
            </a:r>
            <a:endParaRPr/>
          </a:p>
          <a:p xmlns:a="http://schemas.openxmlformats.org/drawingml/2006/main">
            <a:pPr lvl="2">
              <a:buNone/>
            </a:pPr>
            <a:r>
              <a:t>第三层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標題版面配置區 4">
            <a:extLst xmlns:a="http://schemas.openxmlformats.org/drawingml/2006/main">
              <a:ext uri="{FF2B5EF4-FFF2-40B4-BE49-F238E27FC236}">
                <a16:creationId xmlns:a16="http://schemas.microsoft.com/office/drawing/2014/main" id="{9715656C-035C-485B-8E56-F43A7649C57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29816" y="200607"/>
            <a:ext cx="8500221" cy="431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>
            <a:lvl1pPr>
              <a:buNone/>
              <a:defRPr sz="2400" b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简中</a:t>
            </a:r>
            <a:r>
              <a:t>-</a:t>
            </a:r>
            <a:r>
              <a:t>雅黑体 </a:t>
            </a:r>
            <a:r>
              <a:t>/ Arial</a:t>
            </a:r>
            <a:r>
              <a:t>  按一下以編輯母片標題樣式</a:t>
            </a:r>
            <a:endParaRPr sz="2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表格版面配置區 13">
            <a:extLst xmlns:a="http://schemas.openxmlformats.org/drawingml/2006/main">
              <a:ext uri="{FF2B5EF4-FFF2-40B4-BE49-F238E27FC236}">
                <a16:creationId xmlns:a16="http://schemas.microsoft.com/office/drawing/2014/main" id="{C0424C69-803F-4F0F-A2CF-6E4F0FF772C4}"/>
              </a:ext>
            </a:extLst>
          </p:cNvPr>
          <p:cNvSpPr>
            <a:spLocks xmlns:a="http://schemas.openxmlformats.org/drawingml/2006/main" noGrp="1"/>
          </p:cNvSpPr>
          <p:nvPr>
            <p:ph type="tbl" idx="10"/>
          </p:nvPr>
        </p:nvSpPr>
        <p:spPr>
          <a:xfrm xmlns:a="http://schemas.openxmlformats.org/drawingml/2006/main">
            <a:off x="429816" y="837010"/>
            <a:ext cx="8399859" cy="39516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50922e417f4ee9" /><Relationship Type="http://schemas.openxmlformats.org/officeDocument/2006/relationships/slideLayout" Target="/ppt/slideLayouts/slideLayout1.xml" Id="R1fe3cef03164402f" /><Relationship Type="http://schemas.openxmlformats.org/officeDocument/2006/relationships/slideLayout" Target="/ppt/slideLayouts/slideLayout2.xml" Id="R48925ea6895046d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33b7fa46a2d4416" /><Relationship Type="http://schemas.openxmlformats.org/officeDocument/2006/relationships/slideLayout" Target="/ppt/slideLayouts/slideLayout3.xml" Id="R56cb0ab79388480d" /><Relationship Type="http://schemas.openxmlformats.org/officeDocument/2006/relationships/slideLayout" Target="/ppt/slideLayouts/slideLayout4.xml" Id="R1e322bb764e24348" /><Relationship Type="http://schemas.openxmlformats.org/officeDocument/2006/relationships/slideLayout" Target="/ppt/slideLayouts/slideLayout5.xml" Id="Rfae8e4ece0754c33" /><Relationship Type="http://schemas.openxmlformats.org/officeDocument/2006/relationships/slideLayout" Target="/ppt/slideLayouts/slideLayout6.xml" Id="R2b3bb8e590064de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jpeg" Id="R7f1d6e8f72094905" /><Relationship Type="http://schemas.openxmlformats.org/officeDocument/2006/relationships/image" Target="/ppt/media/image.png" Id="R04afc73ae57e447d" /><Relationship Type="http://schemas.openxmlformats.org/officeDocument/2006/relationships/image" Target="/ppt/media/image2.png" Id="R6f2552117f144f0e" /><Relationship Type="http://schemas.openxmlformats.org/officeDocument/2006/relationships/theme" Target="/ppt/slideMasters/theme/theme4.xml" Id="R7dfc555afa7a4e56" /><Relationship Type="http://schemas.openxmlformats.org/officeDocument/2006/relationships/slideLayout" Target="/ppt/slideLayouts/slideLayout7.xml" Id="R93a2b80afa994807" /><Relationship Type="http://schemas.openxmlformats.org/officeDocument/2006/relationships/slideLayout" Target="/ppt/slideLayouts/slideLayout8.xml" Id="Rc737fa290f564ffd" /><Relationship Type="http://schemas.openxmlformats.org/officeDocument/2006/relationships/slideLayout" Target="/ppt/slideLayouts/slideLayout9.xml" Id="R1fd5db09a5914b58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jpeg" Id="Rb5fab95fd4a44d53" /><Relationship Type="http://schemas.openxmlformats.org/officeDocument/2006/relationships/image" Target="/ppt/media/image.png" Id="R33a63f232a864fe6" /><Relationship Type="http://schemas.openxmlformats.org/officeDocument/2006/relationships/image" Target="/ppt/media/image2.png" Id="R59d32ec63a71430b" /><Relationship Type="http://schemas.openxmlformats.org/officeDocument/2006/relationships/theme" Target="/ppt/slideMasters/theme/theme5.xml" Id="R992367bcb22d428c" /><Relationship Type="http://schemas.openxmlformats.org/officeDocument/2006/relationships/slideLayout" Target="/ppt/slideLayouts/slideLayout10.xml" Id="R6de771d8537e4c1a" /><Relationship Type="http://schemas.openxmlformats.org/officeDocument/2006/relationships/slideLayout" Target="/ppt/slideLayouts/slideLayout11.xml" Id="R0362534bb7364969" /><Relationship Type="http://schemas.openxmlformats.org/officeDocument/2006/relationships/slideLayout" Target="/ppt/slideLayouts/slideLayout12.xml" Id="Rc7b80da352a04fc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e3cef03164402f"/>
    <p:sldLayoutId xmlns:r="http://schemas.openxmlformats.org/officeDocument/2006/relationships" id="2147483650" r:id="R48925ea6895046db"/>
  </p:sldLayoutIdLst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685800">
        <a:lnSpc>
          <a:spcPct val="90000"/>
        </a:lnSpc>
        <a:spcBef>
          <a:spcPts val="750"/>
        </a:spcBef>
        <a:buFont typeface="Arial"/>
        <a:buNone/>
        <a:defRPr sz="1500" kern="1200">
          <a:solidFill>
            <a:schemeClr val="bg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56cb0ab79388480d"/>
    <p:sldLayoutId xmlns:r="http://schemas.openxmlformats.org/officeDocument/2006/relationships" id="2147483653" r:id="R1e322bb764e24348"/>
    <p:sldLayoutId xmlns:r="http://schemas.openxmlformats.org/officeDocument/2006/relationships" id="2147483654" r:id="Rfae8e4ece0754c33"/>
    <p:sldLayoutId xmlns:r="http://schemas.openxmlformats.org/officeDocument/2006/relationships" id="2147483655" r:id="R2b3bb8e590064de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EBA173B5-73A0-4BE2-AEE8-61E45FC8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322" y="4888206"/>
            <a:ext cx="2706732" cy="22897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75" b="1">
                <a:solidFill>
                  <a:schemeClr val="bg1"/>
                </a:solidFill>
                <a:latin typeface="Microsoft JhengHei UI"/>
                <a:ea typeface="Microsoft JhengHei UI"/>
                <a:cs typeface="Microsoft JhengHei UI"/>
              </a:rPr>
              <a:t>© 2025 Realtek Semiconductor Corp. All rights reserved</a:t>
            </a:r>
            <a:endParaRPr sz="675" b="1">
              <a:solidFill>
                <a:schemeClr val="bg1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pic>
        <p:nvPicPr>
          <p:cNvPr id="19" name="圖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d6e8f72094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902234"/>
            <a:ext cx="9144000" cy="251343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1FFC522-6212-5A3C-BD4E-F78E5860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4914651"/>
            <a:ext cx="9144000" cy="237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9B">
              <a:alpha val="31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圖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fc73ae57e447d">
            <a:lum bright="70000" contrast="-7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41188" y="4929217"/>
            <a:ext cx="1029720" cy="21074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63500" sx="102000" sy="102000" algn="ctr" rotWithShape="0">
              <a:prstClr val="black">
                <a:alpha val="75000"/>
              </a:prstClr>
            </a:outerShdw>
          </a:effectLst>
        </p:spPr>
      </p:pic>
      <p:pic>
        <p:nvPicPr>
          <p:cNvPr id="22" name="圖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552117f144f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17198" y="-50566"/>
            <a:ext cx="582104" cy="760460"/>
          </a:xfrm>
          <a:prstGeom xmlns:a="http://schemas.openxmlformats.org/drawingml/2006/main" prst="rect">
            <a:avLst/>
          </a:prstGeom>
        </p:spPr>
      </p:pic>
      <p:sp>
        <p:nvSpPr>
          <p:cNvPr id="12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E4FE57D2-6BF4-CB8F-10C5-8D3433E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542" y="4924605"/>
            <a:ext cx="2706732" cy="22897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75" b="1">
                <a:solidFill>
                  <a:schemeClr val="bg1"/>
                </a:solidFill>
                <a:latin typeface="Microsoft JhengHei UI"/>
                <a:ea typeface="Microsoft JhengHei UI"/>
                <a:cs typeface="Microsoft JhengHei UI"/>
              </a:rPr>
              <a:t>© 2026 Realtek Semiconductor Corp. All rights reserved</a:t>
            </a:r>
            <a:endParaRPr sz="675" b="1">
              <a:solidFill>
                <a:schemeClr val="bg1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  <p:sp>
        <p:nvSpPr>
          <p:cNvPr id="14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0E081E74-A484-00E4-81D4-60D1CAE7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854" y="4935883"/>
            <a:ext cx="533048" cy="2513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1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0B5B4039-CDDE-46DD-8545-0A5633482654}" type="slidenum">
              <a:rPr sz="75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‹#›</a:t>
            </a:fld>
            <a:endParaRPr sz="750" b="1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93a2b80afa994807"/>
    <p:sldLayoutId xmlns:r="http://schemas.openxmlformats.org/officeDocument/2006/relationships" id="2147483658" r:id="Rc737fa290f564ffd"/>
    <p:sldLayoutId xmlns:r="http://schemas.openxmlformats.org/officeDocument/2006/relationships" id="2147483659" r:id="R1fd5db09a5914b58"/>
  </p:sldLayoutIdLst>
  <p:hf sldNum="0" hdr="0" ftr="0" dt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57175" indent="-257175" algn="l" defTabSz="685800">
        <a:lnSpc>
          <a:spcPct val="100000"/>
        </a:lnSpc>
        <a:spcBef>
          <a:spcPts val="225"/>
        </a:spcBef>
        <a:spcAft>
          <a:spcPts val="225"/>
        </a:spcAft>
        <a:buFont typeface="Wingdings"/>
        <a:buChar char="n"/>
        <a:defRPr sz="1800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225"/>
        </a:spcBef>
        <a:spcAft>
          <a:spcPts val="225"/>
        </a:spcAft>
        <a:buFont typeface="Arial"/>
        <a:buChar char="•"/>
        <a:defRPr sz="1500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225"/>
        </a:spcBef>
        <a:spcAft>
          <a:spcPts val="225"/>
        </a:spcAft>
        <a:buFont typeface="Arial"/>
        <a:buChar char="•"/>
        <a:defRPr sz="1500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225"/>
        </a:spcBef>
        <a:spcAft>
          <a:spcPts val="225"/>
        </a:spcAft>
        <a:buFont typeface="Arial"/>
        <a:buChar char="•"/>
        <a:defRPr sz="1350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225"/>
        </a:spcBef>
        <a:spcAft>
          <a:spcPts val="225"/>
        </a:spcAft>
        <a:buFont typeface="Arial"/>
        <a:buChar char="•"/>
        <a:defRPr sz="1350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圖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ab95fd4a44d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902234"/>
            <a:ext cx="9144000" cy="251343"/>
          </a:xfrm>
          <a:prstGeom xmlns:a="http://schemas.openxmlformats.org/drawingml/2006/main" prst="rect">
            <a:avLst/>
          </a:prstGeom>
        </p:spPr>
      </p:pic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3F3DCE32-EDCB-45F5-AF59-519120E6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4914651"/>
            <a:ext cx="9144000" cy="2377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D9B">
              <a:alpha val="31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0" name="圖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63f232a864fe6">
            <a:lum bright="70000" contrast="-7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41188" y="4929217"/>
            <a:ext cx="1029720" cy="21074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63500" sx="102000" sy="102000" algn="ctr" rotWithShape="0">
              <a:prstClr val="black">
                <a:alpha val="75000"/>
              </a:prstClr>
            </a:outerShdw>
          </a:effectLst>
        </p:spPr>
      </p:pic>
      <p:sp>
        <p:nvSpPr>
          <p:cNvPr id="35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D15B4EC6-69A3-4464-9CA0-D0643DE2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854" y="4935883"/>
            <a:ext cx="533048" cy="2513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400">
              <a:buNone/>
              <a:defRPr sz="11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0B5B4039-CDDE-46DD-8545-0A5633482654}" type="slidenum">
              <a:rPr sz="75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‹#›</a:t>
            </a:fld>
            <a:endParaRPr sz="750" b="1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62" name="圖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32ec63a7143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17198" y="-50566"/>
            <a:ext cx="582104" cy="760460"/>
          </a:xfrm>
          <a:prstGeom xmlns:a="http://schemas.openxmlformats.org/drawingml/2006/main" prst="rect">
            <a:avLst/>
          </a:prstGeom>
        </p:spPr>
      </p:pic>
      <p:sp>
        <p:nvSpPr>
          <p:cNvPr id="53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A9F83059-7335-4021-8622-E1EEB934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6542" y="4924605"/>
            <a:ext cx="2706732" cy="22897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75" b="1">
                <a:solidFill>
                  <a:schemeClr val="bg1"/>
                </a:solidFill>
                <a:latin typeface="Microsoft JhengHei UI"/>
                <a:ea typeface="Microsoft JhengHei UI"/>
                <a:cs typeface="Microsoft JhengHei UI"/>
              </a:rPr>
              <a:t>© 2026 Realtek Semiconductor Corp. All rights reserved</a:t>
            </a:r>
            <a:endParaRPr sz="675" b="1">
              <a:solidFill>
                <a:schemeClr val="bg1"/>
              </a:solidFill>
              <a:latin typeface="Microsoft JhengHei UI"/>
              <a:ea typeface="Microsoft JhengHei UI"/>
              <a:cs typeface="Microsoft JhengHei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de771d8537e4c1a"/>
    <p:sldLayoutId xmlns:r="http://schemas.openxmlformats.org/officeDocument/2006/relationships" id="2147483662" r:id="R0362534bb7364969"/>
    <p:sldLayoutId xmlns:r="http://schemas.openxmlformats.org/officeDocument/2006/relationships" id="2147483663" r:id="Rc7b80da352a04fc2"/>
  </p:sldLayoutIdLst>
  <p:hf sldNum="0" hdr="0" ftr="0" dt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57175" indent="-257175" algn="l" defTabSz="685800">
        <a:lnSpc>
          <a:spcPct val="100000"/>
        </a:lnSpc>
        <a:spcBef>
          <a:spcPts val="225"/>
        </a:spcBef>
        <a:spcAft>
          <a:spcPts val="225"/>
        </a:spcAft>
        <a:buFont typeface="Wingdings"/>
        <a:buChar char="n"/>
        <a:defRPr sz="1800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225"/>
        </a:spcBef>
        <a:spcAft>
          <a:spcPts val="225"/>
        </a:spcAft>
        <a:buFont typeface="Arial"/>
        <a:buChar char="•"/>
        <a:defRPr sz="1500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225"/>
        </a:spcBef>
        <a:spcAft>
          <a:spcPts val="225"/>
        </a:spcAft>
        <a:buFont typeface="Arial"/>
        <a:buChar char="•"/>
        <a:defRPr sz="1500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225"/>
        </a:spcBef>
        <a:spcAft>
          <a:spcPts val="225"/>
        </a:spcAft>
        <a:buFont typeface="Arial"/>
        <a:buChar char="•"/>
        <a:defRPr sz="1350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225"/>
        </a:spcBef>
        <a:spcAft>
          <a:spcPts val="225"/>
        </a:spcAft>
        <a:buFont typeface="Arial"/>
        <a:buChar char="•"/>
        <a:defRPr sz="1350" kern="12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首頁和末頁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訂 1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藍綠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目錄或章節">
  <a:themeElements>
    <a:clrScheme name="暖調藍色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訂 1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暖調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內頁-繁中英文">
  <a:themeElements>
    <a:clrScheme name="暖調藍色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訂 1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暖調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2_內頁-簡中英文">
  <a:themeElements>
    <a:clrScheme name="暖調藍色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訂 1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暖調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55ae8b47b4345" /><Relationship Type="http://schemas.openxmlformats.org/officeDocument/2006/relationships/image" Target="/ppt/media/image4.png" Id="Ra25ce13ced4c4346" /><Relationship Type="http://schemas.openxmlformats.org/officeDocument/2006/relationships/image" Target="/ppt/media/image5.jpeg" Id="R34ed46b75ee74de6" /><Relationship Type="http://schemas.openxmlformats.org/officeDocument/2006/relationships/notesSlide" Target="/ppt/notesSlides/notesSlide1.xml" Id="Rcd74d4b3210a41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e1cadb577f1452c" /><Relationship Type="http://schemas.openxmlformats.org/officeDocument/2006/relationships/notesSlide" Target="/ppt/notesSlides/notesSlide2.xml" Id="R5968a29258b74a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ce6ecd0bb964e90" /><Relationship Type="http://schemas.openxmlformats.org/officeDocument/2006/relationships/notesSlide" Target="/ppt/notesSlides/notesSlide3.xml" Id="Raf67d828613547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ea402db54774f86" /><Relationship Type="http://schemas.openxmlformats.org/officeDocument/2006/relationships/notesSlide" Target="/ppt/notesSlides/notesSlide4.xml" Id="R524ee07768f644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a54e84f32249ba" /><Relationship Type="http://schemas.openxmlformats.org/officeDocument/2006/relationships/image" Target="/ppt/media/image9.png" Id="R4c92cfa736a847f2" /><Relationship Type="http://schemas.openxmlformats.org/officeDocument/2006/relationships/image" Target="/ppt/media/image10.png" Id="Ra95c8ef31fce4a49" /><Relationship Type="http://schemas.openxmlformats.org/officeDocument/2006/relationships/image" Target="/ppt/media/image11.png" Id="R10802237d30746e5" /><Relationship Type="http://schemas.openxmlformats.org/officeDocument/2006/relationships/notesSlide" Target="/ppt/notesSlides/notesSlide5.xml" Id="R9b912165f10b4b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02c1307dfec4182" /><Relationship Type="http://schemas.openxmlformats.org/officeDocument/2006/relationships/image" Target="/ppt/media/image12.png" Id="R211518cf0dcf42fd" /><Relationship Type="http://schemas.openxmlformats.org/officeDocument/2006/relationships/image" Target="/ppt/media/image13.png" Id="R3289a43bf8e94456" /><Relationship Type="http://schemas.openxmlformats.org/officeDocument/2006/relationships/image" Target="/ppt/media/image14.png" Id="Rdf110bb2f6104376" /><Relationship Type="http://schemas.openxmlformats.org/officeDocument/2006/relationships/notesSlide" Target="/ppt/notesSlides/notesSlide6.xml" Id="R2a30cc11992b49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315f5d7b6634d9c" /><Relationship Type="http://schemas.openxmlformats.org/officeDocument/2006/relationships/notesSlide" Target="/ppt/notesSlides/notesSlide7.xml" Id="Ra8d7dd8090b649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27788BBE-2CFA-479A-8DF3-1E0B839C5A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43125" y="1885950"/>
            <a:ext cx="5905500" cy="1000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rPr>
              <a:t>Realtek Connect+ Cloud</a:t>
            </a:r>
          </a:p>
          <a:p xmlns:a="http://schemas.openxmlformats.org/drawingml/2006/main">
            <a:pPr algn="l">
              <a:defRPr sz="2250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rPr>
              <a:t>快速建立您的自有品牌 IoT 雲端服務</a:t>
            </a:r>
          </a:p>
        </p:txBody>
      </p:sp>
      <p:sp>
        <p:nvSpPr>
          <p:cNvPr id="2" name="內容版面配置區 1">
            <a:extLst xmlns:a="http://schemas.openxmlformats.org/drawingml/2006/main">
              <a:ext uri="{FF2B5EF4-FFF2-40B4-BE49-F238E27FC236}">
                <a16:creationId xmlns:a16="http://schemas.microsoft.com/office/drawing/2014/main" id="{B8A22781-2525-4531-903E-57D67B3047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143125" y="3048000"/>
            <a:ext cx="5334000" cy="685800"/>
          </a:xfr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9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97A"/>
                </a:solidFill>
                <a:latin typeface="Microsoft JhengHei"/>
                <a:ea typeface="Microsoft JhengHei"/>
                <a:cs typeface="Microsoft JhengHei"/>
              </a:rPr>
              <a:t>客戶首次介紹</a:t>
            </a:r>
          </a:p>
          <a:p xmlns:a="http://schemas.openxmlformats.org/drawingml/2006/main">
            <a:pPr algn="l">
              <a:defRPr sz="1350" b="0">
                <a:solidFill>
                  <a:srgbClr val="5269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97A"/>
                </a:solidFill>
                <a:latin typeface="Microsoft JhengHei"/>
                <a:ea typeface="Microsoft JhengHei"/>
                <a:cs typeface="Microsoft JhengHei"/>
              </a:rPr>
              <a:t>Internal Test Release — 2026/09/01</a:t>
            </a:r>
          </a:p>
        </p:txBody>
      </p:sp>
      <p:pic>
        <p:nvPicPr>
          <p:cNvPr id="8" name="圖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ce13ced4c43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43942" y="870490"/>
            <a:ext cx="2578074" cy="527642"/>
          </a:xfrm>
          <a:prstGeom xmlns:a="http://schemas.openxmlformats.org/drawingml/2006/main" prst="rect">
            <a:avLst/>
          </a:prstGeom>
        </p:spPr>
      </p:pic>
      <p:pic>
        <p:nvPicPr>
          <p:cNvPr id="9" name="圖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d46b75ee74de6">
            <a:alphaModFix amt="8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914528"/>
            <a:ext cx="9143999" cy="2289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689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內容版面配置區 1">
            <a:extLst xmlns:a="http://schemas.openxmlformats.org/drawingml/2006/main">
              <a:ext uri="{FF2B5EF4-FFF2-40B4-BE49-F238E27FC236}">
                <a16:creationId xmlns:a16="http://schemas.microsoft.com/office/drawing/2014/main" id="{938B029A-BD0E-6F62-09E2-7527F4E347E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28625" y="876300"/>
            <a:ext cx="3848100" cy="3733800"/>
          </a:xfrm>
        </p:spPr>
        <p:txBody>
          <a:bodyPr xmlns:a="http://schemas.openxmlformats.org/drawingml/2006/main" lIns="209550" tIns="190500" rIns="190500" bIns="152400" anchor="t"/>
          <a:lstStyle xmlns:a="http://schemas.openxmlformats.org/drawingml/2006/main"/>
          <a:p xmlns:a="http://schemas.openxmlformats.org/drawingml/2006/main">
            <a:pPr algn="l">
              <a:spcAft>
                <a:spcPts val="20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從產品到品牌服務</a:t>
            </a:r>
          </a:p>
          <a:p xmlns:a="http://schemas.openxmlformats.org/drawingml/2006/main">
            <a:pPr algn="l">
              <a:spcAft>
                <a:spcPts val="5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產品與裝置</a:t>
            </a:r>
          </a:p>
          <a:p xmlns:a="http://schemas.openxmlformats.org/drawingml/2006/main">
            <a:pPr algn="l">
              <a:spcAft>
                <a:spcPts val="15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連線、回報狀態與接收控制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↓  Realtek Connect+</a:t>
            </a:r>
          </a:p>
          <a:p xmlns:a="http://schemas.openxmlformats.org/drawingml/2006/main">
            <a:pPr algn="l">
              <a:spcAft>
                <a:spcPts val="15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整合帳號、裝置、安全、影像與管理能力</a:t>
            </a:r>
          </a:p>
          <a:p xmlns:a="http://schemas.openxmlformats.org/drawingml/2006/main">
            <a:pPr algn="l">
              <a:spcAft>
                <a:spcPts val="9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↓  自有品牌 App 與服務</a:t>
            </a:r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ABDFCEBA-434B-0992-80FB-EADD5F5A2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8625" y="142875"/>
            <a:ext cx="840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rPr>
              <a:t>一個平台，讓代理商更快推出完整 IoT 方案</a:t>
            </a:r>
            <a:endParaRPr/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7BE881A5-5E76-45A7-EC9F-548CD5038FB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4724400" y="876300"/>
            <a:ext cx="4105275" cy="3733800"/>
          </a:xfrm>
        </p:spPr>
        <p:txBody>
          <a:bodyPr xmlns:a="http://schemas.openxmlformats.org/drawingml/2006/main" lIns="209550" tIns="190500" rIns="190500" bIns="152400" anchor="t"/>
          <a:lstStyle xmlns:a="http://schemas.openxmlformats.org/drawingml/2006/main"/>
          <a:p xmlns:a="http://schemas.openxmlformats.org/drawingml/2006/main">
            <a:pPr algn="l">
              <a:spcAft>
                <a:spcPts val="17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對代理商的價值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快速形成自有品牌完整方案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縮短客戶 PoC 與產品上市時間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不必自行建立完整雲端團隊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可隨客戶與裝置規模逐步擴展</a:t>
            </a:r>
          </a:p>
        </p:txBody>
      </p:sp>
    </p:spTree>
    <p:extLst>
      <p:ext uri="{BB962C8B-B14F-4D97-AF65-F5344CB8AC3E}">
        <p14:creationId xmlns:p14="http://schemas.microsoft.com/office/powerpoint/2010/main" val="24522960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內容版面配置區 1">
            <a:extLst xmlns:a="http://schemas.openxmlformats.org/drawingml/2006/main">
              <a:ext uri="{FF2B5EF4-FFF2-40B4-BE49-F238E27FC236}">
                <a16:creationId xmlns:a16="http://schemas.microsoft.com/office/drawing/2014/main" id="{938B029A-BD0E-6F62-09E2-7527F4E347E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28625" y="876300"/>
            <a:ext cx="4095750" cy="3714750"/>
          </a:xfrm>
        </p:spPr>
        <p:txBody>
          <a:bodyPr xmlns:a="http://schemas.openxmlformats.org/drawingml/2006/main" lIns="209550" tIns="190500" rIns="190500" bIns="152400" anchor="t"/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建議方案｜Realtek 託管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在 Realtek Cloud 下建立獨立 Brand Cloud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使用代理商自己的品牌、使用者與裝置空間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Realtek 負責平台維護與版本更新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依實際使用量計費，用多少付多少</a:t>
            </a:r>
          </a:p>
          <a:p xmlns:a="http://schemas.openxmlformats.org/drawingml/2006/main">
            <a:pPr algn="l">
              <a:spcAft>
                <a:spcPts val="0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適合先快速啟動，再逐步擴大</a:t>
            </a:r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ABDFCEBA-434B-0992-80FB-EADD5F5A2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8625" y="142875"/>
            <a:ext cx="840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rPr>
              <a:t>建議從 Realtek 託管的獨立 Brand Cloud 開始</a:t>
            </a:r>
            <a:endParaRPr/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7BE881A5-5E76-45A7-EC9F-548CD5038FB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4724400" y="876300"/>
            <a:ext cx="4105275" cy="3714750"/>
          </a:xfrm>
        </p:spPr>
        <p:txBody>
          <a:bodyPr xmlns:a="http://schemas.openxmlformats.org/drawingml/2006/main" lIns="209550" tIns="190500" rIns="190500" bIns="152400" anchor="t"/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大型客戶選項｜自行部署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可部署在客戶自己的 Cloud 或 data center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客戶自行支付基礎設施費用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另支付 Realtek 維護與升級費用</a:t>
            </a:r>
          </a:p>
          <a:p xmlns:a="http://schemas.openxmlformats.org/drawingml/2006/main">
            <a:pPr marL="18" indent="-12" algn="l">
              <a:spcAft>
                <a:spcPts val="9"/>
              </a:spcAft>
              <a:buChar char="•"/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適合具特殊治理或大規模需求的客戶</a:t>
            </a:r>
          </a:p>
          <a:p xmlns:a="http://schemas.openxmlformats.org/drawingml/2006/main">
            <a:pPr algn="l">
              <a:spcAft>
                <a:spcPts val="0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價格與計費細節將於後續訓練課程說明。</a:t>
            </a:r>
          </a:p>
        </p:txBody>
      </p:sp>
    </p:spTree>
    <p:extLst>
      <p:ext uri="{BB962C8B-B14F-4D97-AF65-F5344CB8AC3E}">
        <p14:creationId xmlns:p14="http://schemas.microsoft.com/office/powerpoint/2010/main" val="24522960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內容版面配置區 1">
            <a:extLst xmlns:a="http://schemas.openxmlformats.org/drawingml/2006/main">
              <a:ext uri="{FF2B5EF4-FFF2-40B4-BE49-F238E27FC236}">
                <a16:creationId xmlns:a16="http://schemas.microsoft.com/office/drawing/2014/main" id="{938B029A-BD0E-6F62-09E2-7527F4E347E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28625" y="876300"/>
            <a:ext cx="4095750" cy="3733800"/>
          </a:xfrm>
        </p:spPr>
        <p:txBody>
          <a:bodyPr xmlns:a="http://schemas.openxmlformats.org/drawingml/2006/main" lIns="209550" tIns="190500" rIns="190500" bIns="152400" anchor="t"/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連線、控制與安全</a:t>
            </a:r>
          </a:p>
          <a:p xmlns:a="http://schemas.openxmlformats.org/drawingml/2006/main">
            <a:pPr algn="l">
              <a:spcAft>
                <a:spcPts val="4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MQTT｜即時連線與遠端控制</a:t>
            </a:r>
          </a:p>
          <a:p xmlns:a="http://schemas.openxmlformats.org/drawingml/2006/main">
            <a:pPr algn="l">
              <a:spcAft>
                <a:spcPts val="12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讓產品持續回報狀態並接收指令</a:t>
            </a:r>
          </a:p>
          <a:p xmlns:a="http://schemas.openxmlformats.org/drawingml/2006/main">
            <a:pPr algn="l">
              <a:spcAft>
                <a:spcPts val="4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Device Shadow｜保存最新裝置狀態</a:t>
            </a:r>
          </a:p>
          <a:p xmlns:a="http://schemas.openxmlformats.org/drawingml/2006/main">
            <a:pPr algn="l">
              <a:spcAft>
                <a:spcPts val="12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離線或重新連線後仍可同步</a:t>
            </a:r>
          </a:p>
          <a:p xmlns:a="http://schemas.openxmlformats.org/drawingml/2006/main">
            <a:pPr algn="l">
              <a:spcAft>
                <a:spcPts val="4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PKI／X.509｜每台裝置都有數位身分</a:t>
            </a:r>
          </a:p>
          <a:p xmlns:a="http://schemas.openxmlformats.org/drawingml/2006/main">
            <a:pPr algn="l">
              <a:spcAft>
                <a:spcPts val="9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提供可驗證的裝置認證能力</a:t>
            </a:r>
          </a:p>
        </p:txBody>
      </p:sp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ABDFCEBA-434B-0992-80FB-EADD5F5A2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8625" y="142875"/>
            <a:ext cx="840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rPr>
              <a:t>一次取得 IoT 控制、安全與影像能力</a:t>
            </a:r>
            <a:endParaRPr/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7BE881A5-5E76-45A7-EC9F-548CD5038FB7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4724400" y="876300"/>
            <a:ext cx="4105275" cy="3733800"/>
          </a:xfrm>
        </p:spPr>
        <p:txBody>
          <a:bodyPr xmlns:a="http://schemas.openxmlformats.org/drawingml/2006/main" lIns="209550" tIns="190500" rIns="190500" bIns="152400" anchor="t"/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影像、儲存與整合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WebRTC｜低延遲即時影像觀看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Recording／Clip Storage｜保存錄影片段、快照與播放內容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SDK｜支援 Android／iOS 品牌 App 整合</a:t>
            </a:r>
          </a:p>
          <a:p xmlns:a="http://schemas.openxmlformats.org/drawingml/2006/main">
            <a:pPr algn="l">
              <a:spcAft>
                <a:spcPts val="8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管理平台｜集中管理品牌雲、使用者與裝置</a:t>
            </a:r>
          </a:p>
          <a:p xmlns:a="http://schemas.openxmlformats.org/drawingml/2006/main">
            <a:pPr algn="l">
              <a:spcAft>
                <a:spcPts val="9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從裝置到 App，形成可營運的完整服務</a:t>
            </a:r>
          </a:p>
        </p:txBody>
      </p:sp>
    </p:spTree>
    <p:extLst>
      <p:ext uri="{BB962C8B-B14F-4D97-AF65-F5344CB8AC3E}">
        <p14:creationId xmlns:p14="http://schemas.microsoft.com/office/powerpoint/2010/main" val="24522960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574BCED-BCD8-F007-6F56-17EE45EE9C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8625" y="142875"/>
            <a:ext cx="840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rPr>
              <a:t>Dashboard：集中掌握品牌雲與服務狀態</a:t>
            </a:r>
            <a:endParaRPr/>
          </a:p>
        </p:txBody>
      </p:sp>
      <p:sp>
        <p:nvSpPr>
          <p:cNvPr id="5" name="內容版面配置區 4">
            <a:extLst xmlns:a="http://schemas.openxmlformats.org/drawingml/2006/main">
              <a:ext uri="{FF2B5EF4-FFF2-40B4-BE49-F238E27FC236}">
                <a16:creationId xmlns:a16="http://schemas.microsoft.com/office/drawing/2014/main" id="{AAECF924-6865-F15F-A1B1-A5C86EAE1C33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28625" y="619125"/>
            <a:ext cx="8286750" cy="266700"/>
          </a:xfr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9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2697A"/>
                </a:solidFill>
                <a:latin typeface="Microsoft JhengHei"/>
                <a:ea typeface="Microsoft JhengHei"/>
                <a:cs typeface="Microsoft JhengHei"/>
              </a:rPr>
              <a:t>從品牌雲總覽到單一服務狀態，提供代理商日常營運所需的管理視角。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2cfa736a847f2"/>
          <a:stretch xmlns:a="http://schemas.openxmlformats.org/drawingml/2006/main"/>
        </p:blipFill>
        <p:spPr>
          <a:xfrm xmlns:a="http://schemas.openxmlformats.org/drawingml/2006/main">
            <a:off x="506085" y="1000125"/>
            <a:ext cx="4740930" cy="27622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c8ef31fce4a49"/>
          <a:stretch xmlns:a="http://schemas.openxmlformats.org/drawingml/2006/main"/>
        </p:blipFill>
        <p:spPr>
          <a:xfrm xmlns:a="http://schemas.openxmlformats.org/drawingml/2006/main">
            <a:off x="5965272" y="1000125"/>
            <a:ext cx="2452205" cy="14287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02237d30746e5"/>
          <a:stretch xmlns:a="http://schemas.openxmlformats.org/drawingml/2006/main"/>
        </p:blipFill>
        <p:spPr>
          <a:xfrm xmlns:a="http://schemas.openxmlformats.org/drawingml/2006/main">
            <a:off x="6119813" y="2905125"/>
            <a:ext cx="2143125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2A30A-E5C2-478A-A8AE-24E6AA2D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4953000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2878B5"/>
          </a:solidFill>
          <a:ln xmlns:a="http://schemas.openxmlformats.org/drawingml/2006/main" w="9525">
            <a:solidFill>
              <a:srgbClr val="2878B5"/>
            </a:solidFill>
            <a:prstDash val="solid"/>
          </a:ln>
        </p:spPr>
        <p:txBody>
          <a:bodyPr xmlns:a="http://schemas.openxmlformats.org/drawingml/2006/main" lIns="76200" tIns="47625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品牌雲總覽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集中查看 Brand Cloud 狀態、區域、裝置數與管理入口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0925B-70F5-40BB-B579-E6DFB9DC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31432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F9DA6"/>
          </a:solidFill>
          <a:ln xmlns:a="http://schemas.openxmlformats.org/drawingml/2006/main" w="9525">
            <a:solidFill>
              <a:srgbClr val="2F9DA6"/>
            </a:solidFill>
            <a:prstDash val="solid"/>
          </a:ln>
        </p:spPr>
        <p:txBody>
          <a:bodyPr xmlns:a="http://schemas.openxmlformats.org/drawingml/2006/main" lIns="76200" tIns="47625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單一品牌雲詳情｜快速檢視設定與服務狀態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A8809-5C18-4D02-BD6D-BDAB78EC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33875"/>
            <a:ext cx="314325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txBody>
          <a:bodyPr xmlns:a="http://schemas.openxmlformats.org/drawingml/2006/main" lIns="76200" tIns="47625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平台 Dashboard｜掌握整體服務健康與營運事件</a:t>
            </a:r>
          </a:p>
        </p:txBody>
      </p:sp>
    </p:spTree>
    <p:extLst>
      <p:ext uri="{BB962C8B-B14F-4D97-AF65-F5344CB8AC3E}">
        <p14:creationId xmlns:p14="http://schemas.microsoft.com/office/powerpoint/2010/main" val="12198995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圖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518cf0dcf42fd"/>
          <a:stretch xmlns:a="http://schemas.openxmlformats.org/drawingml/2006/main"/>
        </p:blipFill>
        <p:spPr>
          <a:xfrm xmlns:a="http://schemas.openxmlformats.org/drawingml/2006/main">
            <a:off x="6172200" y="1489472"/>
            <a:ext cx="2571750" cy="1735931"/>
          </a:xfrm>
          <a:prstGeom xmlns:a="http://schemas.openxmlformats.org/drawingml/2006/main" prst="rect">
            <a:avLst/>
          </a:prstGeom>
        </p:spPr>
      </p:pic>
      <p:pic>
        <p:nvPicPr>
          <p:cNvPr id="23" name="圖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9a43bf8e94456"/>
          <a:stretch xmlns:a="http://schemas.openxmlformats.org/drawingml/2006/main"/>
        </p:blipFill>
        <p:spPr>
          <a:xfrm xmlns:a="http://schemas.openxmlformats.org/drawingml/2006/main">
            <a:off x="3286125" y="1609836"/>
            <a:ext cx="2571750" cy="1495203"/>
          </a:xfrm>
          <a:prstGeom xmlns:a="http://schemas.openxmlformats.org/drawingml/2006/main" prst="rect">
            <a:avLst/>
          </a:prstGeom>
        </p:spPr>
      </p:pic>
      <p:pic>
        <p:nvPicPr>
          <p:cNvPr id="24" name="圖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10bb2f6104376"/>
          <a:stretch xmlns:a="http://schemas.openxmlformats.org/drawingml/2006/main"/>
        </p:blipFill>
        <p:spPr>
          <a:xfrm xmlns:a="http://schemas.openxmlformats.org/drawingml/2006/main">
            <a:off x="518636" y="1000125"/>
            <a:ext cx="2334578" cy="2714625"/>
          </a:xfrm>
          <a:prstGeom xmlns:a="http://schemas.openxmlformats.org/drawingml/2006/main" prst="rect">
            <a:avLst/>
          </a:prstGeom>
        </p:spPr>
      </p:pic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583256DC-16BF-D00D-073A-17B5B940C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8625" y="142875"/>
            <a:ext cx="840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19050" rIns="0" bIns="19050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rPr>
              <a:t>三個步驟完成測試帳號註冊</a:t>
            </a: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A5FA5CB6-4113-C4D3-489D-C848A44F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19125"/>
            <a:ext cx="828675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97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52697A"/>
                </a:solidFill>
                <a:latin typeface="Microsoft JhengHei"/>
                <a:ea typeface="Microsoft JhengHei"/>
                <a:cs typeface="Microsoft JhengHei"/>
              </a:rPr>
              <a:t>目前僅供 staging 內部測試，非正式公開服務。畫面為 2026/08/26 實際 staging UI。</a:t>
            </a: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71A2187-2C4D-9924-ABE3-AB0BF788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2571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878B5"/>
          </a:solidFill>
          <a:ln xmlns:a="http://schemas.openxmlformats.org/drawingml/2006/main" w="9525">
            <a:solidFill>
              <a:srgbClr val="2878B5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6200" tIns="7620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 建立帳號</a:t>
            </a:r>
            <a:endParaRPr/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Email、密碼、公司名稱與顯示名稱</a:t>
            </a:r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4E9A3DA-B56F-2F7A-8CC7-820CAB90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57625"/>
            <a:ext cx="2571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9DA6"/>
          </a:solidFill>
          <a:ln xmlns:a="http://schemas.openxmlformats.org/drawingml/2006/main" w="9525">
            <a:solidFill>
              <a:srgbClr val="2F9DA6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6200" tIns="7620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  檢查信箱</a:t>
            </a:r>
            <a:endParaRPr/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收到 verification link，可重新寄送</a:t>
            </a:r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78C160F-9548-3738-40CD-577BFC6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57625"/>
            <a:ext cx="25717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76200" tIns="7620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  完成驗證</a:t>
            </a:r>
            <a:endParaRPr/>
          </a:p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點擊連結後登入並開始使用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8957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標題 4">
            <a:extLst xmlns:a="http://schemas.openxmlformats.org/drawingml/2006/main">
              <a:ext uri="{FF2B5EF4-FFF2-40B4-BE49-F238E27FC236}">
                <a16:creationId xmlns:a16="http://schemas.microsoft.com/office/drawing/2014/main" id="{BAD8303A-0CBB-4709-F647-3672DD552AF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38375" y="1619250"/>
            <a:ext cx="4762500" cy="9144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rPr>
              <a:t>2026/09/01</a:t>
            </a:r>
          </a:p>
          <a:p xmlns:a="http://schemas.openxmlformats.org/drawingml/2006/main">
            <a:pPr algn="ctr">
              <a:defRPr sz="2400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rPr>
              <a:t>Internal Test Release</a:t>
            </a:r>
            <a:r>
              <a:rPr sz="2400" b="1">
                <a:solidFill>
                  <a:srgbClr val="17365D"/>
                </a:solidFill>
                <a:latin typeface="Microsoft JhengHei"/>
                <a:ea typeface="Microsoft JhengHei"/>
                <a:cs typeface="Microsoft JhengHei"/>
              </a:rPr>
              <a:t>｜開放內部測試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5A40245C-78E8-5D92-D41C-37553955418B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1762125" y="2762250"/>
            <a:ext cx="5810250" cy="1238250"/>
          </a:xfrm>
        </p:spPr>
        <p:txBody>
          <a:bodyPr xmlns:a="http://schemas.openxmlformats.org/drawingml/2006/main" lIns="95250" tIns="95250" rIns="95250" bIns="95250" anchor="ctr"/>
          <a:lstStyle xmlns:a="http://schemas.openxmlformats.org/drawingml/2006/main"/>
          <a:p xmlns:a="http://schemas.openxmlformats.org/drawingml/2006/main">
            <a:pPr algn="ctr">
              <a:spcAft>
                <a:spcPts val="14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註冊帳號  →  完成 Email Verification  →  開始產品評估</a:t>
            </a:r>
          </a:p>
          <a:p xmlns:a="http://schemas.openxmlformats.org/drawingml/2006/main">
            <a:pPr algn="ctr">
              <a:spcAft>
                <a:spcPts val="12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建議從 Realtek 託管的獨立 Brand Cloud 開始</a:t>
            </a:r>
          </a:p>
          <a:p xmlns:a="http://schemas.openxmlformats.org/drawingml/2006/main">
            <a:pPr algn="ctr">
              <a:spcAft>
                <a:spcPts val="0"/>
              </a:spcAft>
              <a:def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243746"/>
                </a:solidFill>
                <a:latin typeface="Microsoft JhengHei"/>
                <a:ea typeface="Microsoft JhengHei"/>
                <a:cs typeface="Microsoft JhengHei"/>
              </a:rPr>
              <a:t>商業方案、費用與導入細節將於後續訓練與商務討論說明</a:t>
            </a:r>
          </a:p>
        </p:txBody>
      </p:sp>
      <p:sp>
        <p:nvSpPr>
          <p:cNvPr id="7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3AE2CE1A-7D9E-9490-4AFA-0E501D59C7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19569" y="4812745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>
            <a:fld id="{D3D7D1C8-AE23-AA48-DF65-C742588DBE47}" type="slidenum">
              <a:t>7</a:t>
            </a:fld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5938771"/>
      </p:ext>
    </p:extLst>
  </p:cSld>
</p:sld>
</file>

<file path=ppt/theme/theme1.xml><?xml version="1.0" encoding="utf-8"?>
<a:theme xmlns:a="http://schemas.openxmlformats.org/drawingml/2006/main" name="首頁和末頁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訂 1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2026-08-26T04:38:01.8230000Z</dcterms:created>
  <dcterms:modified xsi:type="dcterms:W3CDTF">2026-08-26T04:38:01.8230000Z</dcterms:modified>
</coreProperties>
</file>